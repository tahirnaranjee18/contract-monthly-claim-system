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57" r:id="rId4"/>
    <p:sldId id="259" r:id="rId5"/>
    <p:sldId id="260" r:id="rId6"/>
    <p:sldId id="261" r:id="rId7"/>
    <p:sldId id="262" r:id="rId8"/>
    <p:sldId id="263" r:id="rId9"/>
    <p:sldId id="273" r:id="rId10"/>
    <p:sldId id="274" r:id="rId11"/>
    <p:sldId id="275" r:id="rId12"/>
    <p:sldId id="27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EB89-5AF6-4F00-8787-1D64007F5121}" type="datetimeFigureOut">
              <a:rPr lang="en-ZA" smtClean="0"/>
              <a:t>2026/02/05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E5CAC-5BEC-40A7-B70E-CE7B26AC0145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5314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EB89-5AF6-4F00-8787-1D64007F5121}" type="datetimeFigureOut">
              <a:rPr lang="en-ZA" smtClean="0"/>
              <a:t>2026/02/05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4A1E5CAC-5BEC-40A7-B70E-CE7B26AC0145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70496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EB89-5AF6-4F00-8787-1D64007F5121}" type="datetimeFigureOut">
              <a:rPr lang="en-ZA" smtClean="0"/>
              <a:t>2026/02/05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E5CAC-5BEC-40A7-B70E-CE7B26AC0145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59022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EB89-5AF6-4F00-8787-1D64007F5121}" type="datetimeFigureOut">
              <a:rPr lang="en-ZA" smtClean="0"/>
              <a:t>2026/02/05</a:t>
            </a:fld>
            <a:endParaRPr lang="en-Z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E5CAC-5BEC-40A7-B70E-CE7B26AC0145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29498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EB89-5AF6-4F00-8787-1D64007F5121}" type="datetimeFigureOut">
              <a:rPr lang="en-ZA" smtClean="0"/>
              <a:t>2026/02/05</a:t>
            </a:fld>
            <a:endParaRPr lang="en-ZA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E5CAC-5BEC-40A7-B70E-CE7B26AC0145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485180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EB89-5AF6-4F00-8787-1D64007F5121}" type="datetimeFigureOut">
              <a:rPr lang="en-ZA" smtClean="0"/>
              <a:t>2026/02/05</a:t>
            </a:fld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E5CAC-5BEC-40A7-B70E-CE7B26AC0145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28241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EB89-5AF6-4F00-8787-1D64007F5121}" type="datetimeFigureOut">
              <a:rPr lang="en-ZA" smtClean="0"/>
              <a:t>2026/02/05</a:t>
            </a:fld>
            <a:endParaRPr lang="en-ZA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E5CAC-5BEC-40A7-B70E-CE7B26AC0145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605384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EB89-5AF6-4F00-8787-1D64007F5121}" type="datetimeFigureOut">
              <a:rPr lang="en-ZA" smtClean="0"/>
              <a:t>2026/02/05</a:t>
            </a:fld>
            <a:endParaRPr lang="en-Z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E5CAC-5BEC-40A7-B70E-CE7B26AC0145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30144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EB89-5AF6-4F00-8787-1D64007F5121}" type="datetimeFigureOut">
              <a:rPr lang="en-ZA" smtClean="0"/>
              <a:t>2026/02/05</a:t>
            </a:fld>
            <a:endParaRPr lang="en-Z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E5CAC-5BEC-40A7-B70E-CE7B26AC0145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912229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EB89-5AF6-4F00-8787-1D64007F5121}" type="datetimeFigureOut">
              <a:rPr lang="en-ZA" smtClean="0"/>
              <a:t>2026/02/05</a:t>
            </a:fld>
            <a:endParaRPr lang="en-Z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E5CAC-5BEC-40A7-B70E-CE7B26AC0145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73346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EB89-5AF6-4F00-8787-1D64007F5121}" type="datetimeFigureOut">
              <a:rPr lang="en-ZA" smtClean="0"/>
              <a:t>2026/02/05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E5CAC-5BEC-40A7-B70E-CE7B26AC0145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27114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EB89-5AF6-4F00-8787-1D64007F5121}" type="datetimeFigureOut">
              <a:rPr lang="en-ZA" smtClean="0"/>
              <a:t>2026/02/05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E5CAC-5BEC-40A7-B70E-CE7B26AC0145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598534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EB89-5AF6-4F00-8787-1D64007F5121}" type="datetimeFigureOut">
              <a:rPr lang="en-ZA" smtClean="0"/>
              <a:t>2026/02/05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E5CAC-5BEC-40A7-B70E-CE7B26AC0145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76894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EB89-5AF6-4F00-8787-1D64007F5121}" type="datetimeFigureOut">
              <a:rPr lang="en-ZA" smtClean="0"/>
              <a:t>2026/02/05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E5CAC-5BEC-40A7-B70E-CE7B26AC0145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748206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EB89-5AF6-4F00-8787-1D64007F5121}" type="datetimeFigureOut">
              <a:rPr lang="en-ZA" smtClean="0"/>
              <a:t>2026/02/05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E5CAC-5BEC-40A7-B70E-CE7B26AC0145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681006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EB89-5AF6-4F00-8787-1D64007F5121}" type="datetimeFigureOut">
              <a:rPr lang="en-ZA" smtClean="0"/>
              <a:t>2026/02/05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E5CAC-5BEC-40A7-B70E-CE7B26AC0145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9978538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EB89-5AF6-4F00-8787-1D64007F5121}" type="datetimeFigureOut">
              <a:rPr lang="en-ZA" smtClean="0"/>
              <a:t>2026/02/05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E5CAC-5BEC-40A7-B70E-CE7B26AC0145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28481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68EEB89-5AF6-4F00-8787-1D64007F5121}" type="datetimeFigureOut">
              <a:rPr lang="en-ZA" smtClean="0"/>
              <a:t>2026/02/05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A1E5CAC-5BEC-40A7-B70E-CE7B26AC0145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9630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387B3-3C15-2885-6574-A66630F9BC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Segoe UI Black" panose="020B0A02040204020203" pitchFamily="34" charset="0"/>
                <a:ea typeface="Segoe UI Black" panose="020B0A02040204020203" pitchFamily="34" charset="0"/>
              </a:rPr>
              <a:t>Contract Monthly Claim System (CMCS)</a:t>
            </a:r>
            <a:endParaRPr lang="en-ZA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2E8F97-C1DD-7360-7F2B-E7C9C2FE64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Streamlining Lecturer Claim Submissions and Approvals</a:t>
            </a:r>
          </a:p>
          <a:p>
            <a:r>
              <a:rPr lang="en-GB" dirty="0"/>
              <a:t>By </a:t>
            </a:r>
            <a:r>
              <a:rPr lang="en-ZA" dirty="0"/>
              <a:t>Tahir Naranjee</a:t>
            </a:r>
          </a:p>
        </p:txBody>
      </p:sp>
    </p:spTree>
    <p:extLst>
      <p:ext uri="{BB962C8B-B14F-4D97-AF65-F5344CB8AC3E}">
        <p14:creationId xmlns:p14="http://schemas.microsoft.com/office/powerpoint/2010/main" val="1336295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387B3-3C15-2885-6574-A66630F9BC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1740" y="242392"/>
            <a:ext cx="7740569" cy="1092646"/>
          </a:xfrm>
        </p:spPr>
        <p:txBody>
          <a:bodyPr>
            <a:normAutofit fontScale="90000"/>
          </a:bodyPr>
          <a:lstStyle/>
          <a:p>
            <a:r>
              <a:rPr lang="en-ZA" dirty="0">
                <a:latin typeface="Segoe UI Black" panose="020B0A02040204020203" pitchFamily="34" charset="0"/>
                <a:ea typeface="Segoe UI Black" panose="020B0A02040204020203" pitchFamily="34" charset="0"/>
              </a:rPr>
              <a:t>Overview of the CMCS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B369C2D-835E-5B8A-E277-93B201A2D28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034553" y="1335038"/>
            <a:ext cx="812289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Contract Monthly Claim System (CMCS)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.NET-based application that simplifies claim submission and approval processes for independent contractor lecturers.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 include automated calculations, claim tracking, document uploads, and streamlined approvals.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ASP.NET Core MVC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Entity Framework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modern UI/UX principles. </a:t>
            </a:r>
          </a:p>
        </p:txBody>
      </p:sp>
    </p:spTree>
    <p:extLst>
      <p:ext uri="{BB962C8B-B14F-4D97-AF65-F5344CB8AC3E}">
        <p14:creationId xmlns:p14="http://schemas.microsoft.com/office/powerpoint/2010/main" val="1127188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CD06CCB1-5CE6-7309-7A5D-A195F36D7A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61" r="24288"/>
          <a:stretch/>
        </p:blipFill>
        <p:spPr>
          <a:xfrm>
            <a:off x="803914" y="847598"/>
            <a:ext cx="5430192" cy="5344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AAA68F-C154-E91E-9B43-5453B681E257}"/>
              </a:ext>
            </a:extLst>
          </p:cNvPr>
          <p:cNvSpPr txBox="1"/>
          <p:nvPr/>
        </p:nvSpPr>
        <p:spPr>
          <a:xfrm>
            <a:off x="6523899" y="847598"/>
            <a:ext cx="486418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Provides an intuitive entry point to all system functionalities: -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Submit Claim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Approve Claims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Upload Documents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Track Claim Status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HR View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Provides user-friendly buttons for clear navigation.</a:t>
            </a:r>
            <a:endParaRPr lang="en-ZA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C7EA3D-7D37-2D4D-688D-84904C2F4FDB}"/>
              </a:ext>
            </a:extLst>
          </p:cNvPr>
          <p:cNvSpPr txBox="1"/>
          <p:nvPr/>
        </p:nvSpPr>
        <p:spPr>
          <a:xfrm>
            <a:off x="2212724" y="272507"/>
            <a:ext cx="2612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Segoe UI Black" panose="020B0A02040204020203" pitchFamily="34" charset="0"/>
                <a:ea typeface="Segoe UI Black" panose="020B0A02040204020203" pitchFamily="34" charset="0"/>
                <a:cs typeface="Aharoni" panose="020F0502020204030204" pitchFamily="2" charset="-79"/>
              </a:rPr>
              <a:t>Home Page</a:t>
            </a:r>
            <a:endParaRPr lang="en-ZA" sz="2400" dirty="0">
              <a:latin typeface="Segoe UI Black" panose="020B0A02040204020203" pitchFamily="34" charset="0"/>
              <a:ea typeface="Segoe UI Black" panose="020B0A02040204020203" pitchFamily="34" charset="0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95225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1D0A1BA6-4FE1-E438-8C70-C7F26D26C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0" t="1152" r="3643" b="46492"/>
          <a:stretch/>
        </p:blipFill>
        <p:spPr>
          <a:xfrm>
            <a:off x="593474" y="1020371"/>
            <a:ext cx="11005052" cy="30167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79D325-F6BE-D182-0BFF-FF4AA0B4EFB1}"/>
              </a:ext>
            </a:extLst>
          </p:cNvPr>
          <p:cNvSpPr txBox="1"/>
          <p:nvPr/>
        </p:nvSpPr>
        <p:spPr>
          <a:xfrm>
            <a:off x="593474" y="4232607"/>
            <a:ext cx="701803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Allows lecturers to submit claims with details: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Hours Worked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Hourly Rate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Lecturer ID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Auto-calculates the total claim amount.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Includes validation checks to ensure accurate input.</a:t>
            </a:r>
          </a:p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CB5CB9-6B5F-ED45-7285-071C0B59B075}"/>
              </a:ext>
            </a:extLst>
          </p:cNvPr>
          <p:cNvSpPr txBox="1"/>
          <p:nvPr/>
        </p:nvSpPr>
        <p:spPr>
          <a:xfrm>
            <a:off x="4585998" y="419455"/>
            <a:ext cx="3318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Segoe UI Black" panose="020B0A02040204020203" pitchFamily="34" charset="0"/>
                <a:ea typeface="Segoe UI Black" panose="020B0A02040204020203" pitchFamily="34" charset="0"/>
                <a:cs typeface="Aharoni" panose="020F0502020204030204" pitchFamily="2" charset="-79"/>
              </a:rPr>
              <a:t>Submit Claims Page</a:t>
            </a:r>
            <a:endParaRPr lang="en-ZA" sz="2400" dirty="0">
              <a:latin typeface="Segoe UI Black" panose="020B0A02040204020203" pitchFamily="34" charset="0"/>
              <a:ea typeface="Segoe UI Black" panose="020B0A02040204020203" pitchFamily="34" charset="0"/>
              <a:cs typeface="Aharoni" panose="020F0502020204030204" pitchFamily="2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3C6EBF-37CC-5ACB-E574-0CB0EAB39167}"/>
              </a:ext>
            </a:extLst>
          </p:cNvPr>
          <p:cNvSpPr txBox="1"/>
          <p:nvPr/>
        </p:nvSpPr>
        <p:spPr>
          <a:xfrm>
            <a:off x="6496442" y="4232607"/>
            <a:ext cx="51020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Key Value: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Reduces errors and simplifies claim submissions for lecturers.</a:t>
            </a:r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793609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4ACAFBF7-AD94-0665-7AB2-1112249BA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98" b="55017"/>
          <a:stretch/>
        </p:blipFill>
        <p:spPr>
          <a:xfrm>
            <a:off x="1839915" y="689148"/>
            <a:ext cx="8512170" cy="19399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0A4F13C1-AE4E-3A30-43B4-062419172A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66" b="54261"/>
          <a:stretch/>
        </p:blipFill>
        <p:spPr>
          <a:xfrm>
            <a:off x="1771409" y="4512548"/>
            <a:ext cx="8649180" cy="20883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D6463E-485D-D621-57C8-0BE1B29AE608}"/>
              </a:ext>
            </a:extLst>
          </p:cNvPr>
          <p:cNvSpPr txBox="1"/>
          <p:nvPr/>
        </p:nvSpPr>
        <p:spPr>
          <a:xfrm>
            <a:off x="1082351" y="2832177"/>
            <a:ext cx="76231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Designed for program coordinators and academic managers: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View all pending claims.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Approve or reject claims with a single click.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Update claim statuses in real-time.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Provides an organised table with claim details.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FFE70C-F5DF-20FC-9C61-FBA9F3DB0752}"/>
              </a:ext>
            </a:extLst>
          </p:cNvPr>
          <p:cNvSpPr txBox="1"/>
          <p:nvPr/>
        </p:nvSpPr>
        <p:spPr>
          <a:xfrm>
            <a:off x="4387890" y="122966"/>
            <a:ext cx="3416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Segoe UI Black" panose="020B0A02040204020203" pitchFamily="34" charset="0"/>
                <a:ea typeface="Segoe UI Black" panose="020B0A02040204020203" pitchFamily="34" charset="0"/>
                <a:cs typeface="Aharoni" panose="020F0502020204030204" pitchFamily="2" charset="-79"/>
              </a:rPr>
              <a:t>Approve Claims Page</a:t>
            </a:r>
            <a:endParaRPr lang="en-ZA" sz="2400" dirty="0">
              <a:latin typeface="Segoe UI Black" panose="020B0A02040204020203" pitchFamily="34" charset="0"/>
              <a:ea typeface="Segoe UI Black" panose="020B0A02040204020203" pitchFamily="34" charset="0"/>
              <a:cs typeface="Aharoni" panose="020F0502020204030204" pitchFamily="2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82E5F5-DD9F-FFBC-CAE3-9127E2F42692}"/>
              </a:ext>
            </a:extLst>
          </p:cNvPr>
          <p:cNvSpPr txBox="1"/>
          <p:nvPr/>
        </p:nvSpPr>
        <p:spPr>
          <a:xfrm>
            <a:off x="8705461" y="2832177"/>
            <a:ext cx="22313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Key Value: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Enhances the approval process and ensures transparency.</a:t>
            </a:r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33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0D5A2F53-6165-BFB8-57C1-68D8D28B4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7" t="1669" r="6957" b="35555"/>
          <a:stretch/>
        </p:blipFill>
        <p:spPr>
          <a:xfrm>
            <a:off x="1028608" y="1153095"/>
            <a:ext cx="10134783" cy="33291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E1463D-3FE5-659C-84B2-9EB6F3C508E5}"/>
              </a:ext>
            </a:extLst>
          </p:cNvPr>
          <p:cNvSpPr txBox="1"/>
          <p:nvPr/>
        </p:nvSpPr>
        <p:spPr>
          <a:xfrm>
            <a:off x="1028608" y="4617770"/>
            <a:ext cx="63736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Lecturers can upload supporting documents (e.g., PDFs, DOCX, XLSX).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Includes security features like file type and size validation.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Displays uploaded documents in a table format for reference.</a:t>
            </a:r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CF61C7-DEA8-97D4-7657-F79248D14DF7}"/>
              </a:ext>
            </a:extLst>
          </p:cNvPr>
          <p:cNvSpPr txBox="1"/>
          <p:nvPr/>
        </p:nvSpPr>
        <p:spPr>
          <a:xfrm>
            <a:off x="4789713" y="555913"/>
            <a:ext cx="2612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Segoe UI Black" panose="020B0A02040204020203" pitchFamily="34" charset="0"/>
                <a:ea typeface="Segoe UI Black" panose="020B0A02040204020203" pitchFamily="34" charset="0"/>
                <a:cs typeface="Aharoni" panose="020F0502020204030204" pitchFamily="2" charset="-79"/>
              </a:rPr>
              <a:t>Upload Page</a:t>
            </a:r>
            <a:endParaRPr lang="en-ZA" sz="2400" dirty="0">
              <a:latin typeface="Segoe UI Black" panose="020B0A02040204020203" pitchFamily="34" charset="0"/>
              <a:ea typeface="Segoe UI Black" panose="020B0A02040204020203" pitchFamily="34" charset="0"/>
              <a:cs typeface="Aharoni" panose="020F0502020204030204" pitchFamily="2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8EDD6C-F6C0-A0DD-F0E5-A50F2DE88980}"/>
              </a:ext>
            </a:extLst>
          </p:cNvPr>
          <p:cNvSpPr txBox="1"/>
          <p:nvPr/>
        </p:nvSpPr>
        <p:spPr>
          <a:xfrm>
            <a:off x="7402283" y="4617770"/>
            <a:ext cx="37611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Key Value: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Centralises document management and reduces paperwork.</a:t>
            </a:r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15566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E89152FB-8E22-F824-B0C7-47E88AED9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8" t="1933" r="3707" b="53760"/>
          <a:stretch/>
        </p:blipFill>
        <p:spPr>
          <a:xfrm>
            <a:off x="616594" y="1119420"/>
            <a:ext cx="10958811" cy="2468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970388-6907-5D6F-25F0-3E8933EFE2E8}"/>
              </a:ext>
            </a:extLst>
          </p:cNvPr>
          <p:cNvSpPr txBox="1"/>
          <p:nvPr/>
        </p:nvSpPr>
        <p:spPr>
          <a:xfrm>
            <a:off x="616594" y="3847158"/>
            <a:ext cx="54794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Lecturers can track the status of their claims (Pending, Approved, Rejected).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Displays submission dates and calculated total amounts.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Updates in real-time as claims are processed.</a:t>
            </a:r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400DD4-311F-AF6B-45C7-07F7018A1B57}"/>
              </a:ext>
            </a:extLst>
          </p:cNvPr>
          <p:cNvSpPr txBox="1"/>
          <p:nvPr/>
        </p:nvSpPr>
        <p:spPr>
          <a:xfrm>
            <a:off x="4608503" y="583665"/>
            <a:ext cx="2974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Segoe UI Black" panose="020B0A02040204020203" pitchFamily="34" charset="0"/>
                <a:ea typeface="Segoe UI Black" panose="020B0A02040204020203" pitchFamily="34" charset="0"/>
                <a:cs typeface="Aharoni" panose="020F0502020204030204" pitchFamily="2" charset="-79"/>
              </a:rPr>
              <a:t>Track Claims Page</a:t>
            </a:r>
            <a:endParaRPr lang="en-ZA" sz="2400" dirty="0">
              <a:latin typeface="Segoe UI Black" panose="020B0A02040204020203" pitchFamily="34" charset="0"/>
              <a:ea typeface="Segoe UI Black" panose="020B0A02040204020203" pitchFamily="34" charset="0"/>
              <a:cs typeface="Aharoni" panose="020F0502020204030204" pitchFamily="2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67E913-C781-CCE8-5672-981D86570E4F}"/>
              </a:ext>
            </a:extLst>
          </p:cNvPr>
          <p:cNvSpPr txBox="1"/>
          <p:nvPr/>
        </p:nvSpPr>
        <p:spPr>
          <a:xfrm>
            <a:off x="6095999" y="3847158"/>
            <a:ext cx="54794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Key Value: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Increases transparency and lecturer satisfaction.</a:t>
            </a:r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611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316D38C4-3E7E-766F-22B6-A18234FB5E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1250" r="12116" b="63658"/>
          <a:stretch/>
        </p:blipFill>
        <p:spPr>
          <a:xfrm>
            <a:off x="565610" y="1186542"/>
            <a:ext cx="11060780" cy="21678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38937E-C08B-FBEB-39D0-88D0D68B2D4A}"/>
              </a:ext>
            </a:extLst>
          </p:cNvPr>
          <p:cNvSpPr txBox="1"/>
          <p:nvPr/>
        </p:nvSpPr>
        <p:spPr>
          <a:xfrm>
            <a:off x="565610" y="3654131"/>
            <a:ext cx="55303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Provides HR personnel with: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Summaries of approved claims.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Automatic invoice/report generation (approved claims only).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Access to detailed claim data.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Simplifies payroll and administrative tasks.</a:t>
            </a:r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CE4AB7-56AF-BFC2-16A3-00E528D02B82}"/>
              </a:ext>
            </a:extLst>
          </p:cNvPr>
          <p:cNvSpPr txBox="1"/>
          <p:nvPr/>
        </p:nvSpPr>
        <p:spPr>
          <a:xfrm>
            <a:off x="4935894" y="572339"/>
            <a:ext cx="2612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Segoe UI Black" panose="020B0A02040204020203" pitchFamily="34" charset="0"/>
                <a:ea typeface="Segoe UI Black" panose="020B0A02040204020203" pitchFamily="34" charset="0"/>
                <a:cs typeface="Aharoni" panose="020F0502020204030204" pitchFamily="2" charset="-79"/>
              </a:rPr>
              <a:t>HR View Page</a:t>
            </a:r>
            <a:endParaRPr lang="en-ZA" sz="2400" dirty="0">
              <a:latin typeface="Segoe UI Black" panose="020B0A02040204020203" pitchFamily="34" charset="0"/>
              <a:ea typeface="Segoe UI Black" panose="020B0A02040204020203" pitchFamily="34" charset="0"/>
              <a:cs typeface="Aharoni" panose="020F0502020204030204" pitchFamily="2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260C10-02AE-9860-BBB1-249BD4F2DC06}"/>
              </a:ext>
            </a:extLst>
          </p:cNvPr>
          <p:cNvSpPr txBox="1"/>
          <p:nvPr/>
        </p:nvSpPr>
        <p:spPr>
          <a:xfrm>
            <a:off x="6095999" y="3654131"/>
            <a:ext cx="55303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Key Value: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Saves time and reduces administrative burden.</a:t>
            </a:r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318055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D3AFD-9240-C4EA-9F0F-E8280C174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latin typeface="Segoe UI Black" panose="020B0A02040204020203" pitchFamily="34" charset="0"/>
                <a:ea typeface="Segoe UI Black" panose="020B0A02040204020203" pitchFamily="34" charset="0"/>
              </a:rPr>
              <a:t>Key Technologies and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8DDFB-8243-7830-C218-69493C5E9B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43541" y="2207466"/>
            <a:ext cx="4869835" cy="2483499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Technologies Used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ASP.NET Core MVC for backend logic.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Entity Framework for database operations.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jQuery for frontend validations.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Bootstrap for responsive design.</a:t>
            </a:r>
          </a:p>
          <a:p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FDE5D1-91DB-3A80-D49A-92B68FE746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72605" y="2438399"/>
            <a:ext cx="4430419" cy="2021633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Automation Highlights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Auto-calculation of claim amounts.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 of inputs and file uploads.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updates and approval workflows.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960132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0F639-90A5-B045-DD68-F56793AC2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latin typeface="Segoe UI Black" panose="020B0A02040204020203" pitchFamily="34" charset="0"/>
                <a:ea typeface="Segoe UI Black" panose="020B0A02040204020203" pitchFamily="34" charset="0"/>
              </a:rPr>
              <a:t>Why CMCS?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CABFBF-F12E-EB1E-A3ED-107DFC1A7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1" y="2658533"/>
            <a:ext cx="2942250" cy="576262"/>
          </a:xfrm>
        </p:spPr>
        <p:txBody>
          <a:bodyPr/>
          <a:lstStyle/>
          <a:p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For Lecturers: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C5A118-1ECD-0955-D33D-ADA6960A92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84310" y="3335337"/>
            <a:ext cx="2942251" cy="2455862"/>
          </a:xfrm>
        </p:spPr>
        <p:txBody>
          <a:bodyPr/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Simplified and transparent claim submissions.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tracking of claim status.</a:t>
            </a:r>
          </a:p>
          <a:p>
            <a:endParaRPr lang="en-ZA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6ABD7EE-7FB9-5558-40AC-928E4339C2F4}"/>
              </a:ext>
            </a:extLst>
          </p:cNvPr>
          <p:cNvSpPr txBox="1">
            <a:spLocks/>
          </p:cNvSpPr>
          <p:nvPr/>
        </p:nvSpPr>
        <p:spPr>
          <a:xfrm>
            <a:off x="4560564" y="2658533"/>
            <a:ext cx="3619276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800" b="0" kern="1200" cap="none">
                <a:solidFill>
                  <a:schemeClr val="accent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For Administrators: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169F6D3-9CC6-F9DD-740C-6AC4E4EA6605}"/>
              </a:ext>
            </a:extLst>
          </p:cNvPr>
          <p:cNvSpPr txBox="1">
            <a:spLocks/>
          </p:cNvSpPr>
          <p:nvPr/>
        </p:nvSpPr>
        <p:spPr>
          <a:xfrm>
            <a:off x="4560562" y="3335337"/>
            <a:ext cx="3619276" cy="24558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 claim verification and approval.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Centralised document management.</a:t>
            </a:r>
          </a:p>
          <a:p>
            <a:endParaRPr lang="en-ZA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036634A-A05F-990B-FE3D-7B2571EE3106}"/>
              </a:ext>
            </a:extLst>
          </p:cNvPr>
          <p:cNvSpPr txBox="1">
            <a:spLocks/>
          </p:cNvSpPr>
          <p:nvPr/>
        </p:nvSpPr>
        <p:spPr>
          <a:xfrm>
            <a:off x="8669702" y="2658533"/>
            <a:ext cx="2560506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800" b="0" kern="1200" cap="none">
                <a:solidFill>
                  <a:schemeClr val="accent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For HR: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867C474-0A2C-CEC6-7DBC-A8DB54D8811E}"/>
              </a:ext>
            </a:extLst>
          </p:cNvPr>
          <p:cNvSpPr txBox="1">
            <a:spLocks/>
          </p:cNvSpPr>
          <p:nvPr/>
        </p:nvSpPr>
        <p:spPr>
          <a:xfrm>
            <a:off x="8669702" y="3335337"/>
            <a:ext cx="2560506" cy="24558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Streamlined payroll processing with automated reporting.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60353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5434A-4BED-85D4-367D-D2007B6BE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2" y="685800"/>
            <a:ext cx="10018713" cy="1752599"/>
          </a:xfrm>
        </p:spPr>
        <p:txBody>
          <a:bodyPr/>
          <a:lstStyle/>
          <a:p>
            <a:r>
              <a:rPr lang="en-ZA" dirty="0">
                <a:latin typeface="Segoe UI Black" panose="020B0A02040204020203" pitchFamily="34" charset="0"/>
                <a:ea typeface="Segoe UI Black" panose="020B0A02040204020203" pitchFamily="34" charset="0"/>
              </a:rPr>
              <a:t>Final Thoughts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E4974-F4D6-B062-86AB-D71AC0670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643" y="2438399"/>
            <a:ext cx="10018713" cy="3124201"/>
          </a:xfrm>
        </p:spPr>
        <p:txBody>
          <a:bodyPr/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CMCS is a robust solution designed to modernise claim management.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automating repetitive tasks, it saves time, reduces errors, and enhances transparency for all stakeholders.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Ready to be deployed and scaled for broader organisational needs. 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55434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05FB7-09F6-F862-23CA-BCC4B8448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648477"/>
            <a:ext cx="10018713" cy="1752599"/>
          </a:xfrm>
        </p:spPr>
        <p:txBody>
          <a:bodyPr/>
          <a:lstStyle/>
          <a:p>
            <a:r>
              <a:rPr lang="en-ZA" dirty="0">
                <a:latin typeface="Segoe UI Black" panose="020B0A02040204020203" pitchFamily="34" charset="0"/>
                <a:ea typeface="Segoe UI Black" panose="020B0A02040204020203" pitchFamily="34" charset="0"/>
              </a:rPr>
              <a:t>Questions and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763B7-D37D-CA42-C48F-1B66324EC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642" y="2013855"/>
            <a:ext cx="10018713" cy="3124201"/>
          </a:xfrm>
        </p:spPr>
        <p:txBody>
          <a:bodyPr/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Feel </a:t>
            </a:r>
            <a:r>
              <a:rPr lang="en-US" altLang="en-US" dirty="0">
                <a:latin typeface="Arial" panose="020B0604020202020204" pitchFamily="34" charset="0"/>
              </a:rPr>
              <a:t>free to ask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questions about the system's design, features, and implementation.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Feel free </a:t>
            </a:r>
            <a:r>
              <a:rPr lang="en-US" altLang="en-US" dirty="0">
                <a:latin typeface="Arial" panose="020B0604020202020204" pitchFamily="34" charset="0"/>
              </a:rPr>
              <a:t>to suggest implementations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further improvement. 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887467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2174</TotalTime>
  <Words>503</Words>
  <Application>Microsoft Office PowerPoint</Application>
  <PresentationFormat>Widescreen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Corbel</vt:lpstr>
      <vt:lpstr>Segoe UI Black</vt:lpstr>
      <vt:lpstr>Wingdings</vt:lpstr>
      <vt:lpstr>Parallax</vt:lpstr>
      <vt:lpstr>Contract Monthly Claim System (CMCS)</vt:lpstr>
      <vt:lpstr>Overview of the CMCS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Technologies and Features</vt:lpstr>
      <vt:lpstr>Why CMCS?</vt:lpstr>
      <vt:lpstr>Final Thoughts</vt:lpstr>
      <vt:lpstr>Questions and 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Tahir Naranjee</dc:creator>
  <cp:lastModifiedBy>Tahir Naranjee</cp:lastModifiedBy>
  <cp:revision>14</cp:revision>
  <dcterms:created xsi:type="dcterms:W3CDTF">2024-11-19T20:26:12Z</dcterms:created>
  <dcterms:modified xsi:type="dcterms:W3CDTF">2026-02-05T08:40:58Z</dcterms:modified>
</cp:coreProperties>
</file>